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43891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跨区网络传输方案 · A/B/C 三区链路设计</a:t>
            </a:r>
            <a:endParaRPr sz="2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4552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DDD + CQRS + 微服务 + 多站点隔离 · 三区链路设计 · V9.7.31 v1.0</a:t>
            </a:r>
            <a:endParaRPr sz="11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87552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11274552" cy="1207008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778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11274552" cy="292608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118872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170432"/>
            <a:ext cx="100584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730A3"/>
                </a:solidFill>
                <a:latin typeface="微软雅黑" panose="020B0503020204020204" charset="-122"/>
                <a:ea typeface="微软雅黑" panose="020B0503020204020204" charset="-122"/>
              </a:rPr>
              <a:t>背景与约束 — 三区网络隔离环境下的跨区协同设计</a:t>
            </a:r>
            <a:endParaRPr sz="1250" b="1">
              <a:solidFill>
                <a:srgbClr val="3730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1517904"/>
            <a:ext cx="35661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1" y="1536192"/>
            <a:ext cx="3419856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三区网络隔离</a:t>
            </a:r>
            <a:endParaRPr sz="95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231" y="1719072"/>
            <a:ext cx="3419856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A↔B 双向过 GW-1 · B→C 单向过 GW-2 · A↔C 经 B 中继过双 GW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15968" y="1517904"/>
            <a:ext cx="35661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36192"/>
            <a:ext cx="3419856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用例跨区执行</a:t>
            </a:r>
            <a:endParaRPr sz="95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89120" y="1719072"/>
            <a:ext cx="3419856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A/B/C 均具备执行能力 · 能力有差异 · 用例在其可执行区域执行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991856" y="1517904"/>
            <a:ext cx="35661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8" y="1536192"/>
            <a:ext cx="3419856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执行能力分布</a:t>
            </a:r>
            <a:endParaRPr sz="95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65008" y="1719072"/>
            <a:ext cx="3419856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A/B：完整微服务栈 + 本地评估 · C：仅 THIRD_PARTY_C 评估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1938528"/>
            <a:ext cx="35661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1" y="1956816"/>
            <a:ext cx="3419856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数据隔离</a:t>
            </a:r>
            <a:endParaRPr sz="95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3231" y="2139696"/>
            <a:ext cx="3419856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A/B 数据不持久化到 C · C 不反向回连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15968" y="1938528"/>
            <a:ext cx="35661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1956816"/>
            <a:ext cx="3419856" cy="17145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9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千</a:t>
            </a:r>
            <a:r>
              <a:rPr sz="9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MB 级传输</a:t>
            </a:r>
            <a:endParaRPr sz="95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89120" y="2139696"/>
            <a:ext cx="3419856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音频素材 + 采集结果，需分片+校验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991856" y="1938528"/>
            <a:ext cx="35661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8" y="1956816"/>
            <a:ext cx="3419856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报告共享</a:t>
            </a:r>
            <a:endParaRPr sz="95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65008" y="2139696"/>
            <a:ext cx="3419856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 评估结果需在 A/B 可见，API 响应带回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57200" y="2450592"/>
            <a:ext cx="11274552" cy="219456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77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2450592"/>
            <a:ext cx="11274552" cy="292608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03504" y="2523744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2960" y="2505456"/>
            <a:ext cx="100584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三区拓扑 — A（主站点）· B（评估中枢）· C（第三方 LLM API）· 两两链路均过软件网关（A↔C 经 B 中继）</a:t>
            </a:r>
            <a:endParaRPr sz="1250" b="1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0080" y="2962656"/>
            <a:ext cx="3017520" cy="1207008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77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2962656"/>
            <a:ext cx="3017520" cy="256032"/>
          </a:xfrm>
          <a:prstGeom prst="roundRect">
            <a:avLst>
              <a:gd name="adj" fmla="val 1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2980944"/>
            <a:ext cx="3017520" cy="23774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8350F"/>
                </a:solidFill>
                <a:latin typeface="微软雅黑" panose="020B0503020204020204" charset="-122"/>
                <a:ea typeface="微软雅黑" panose="020B0503020204020204" charset="-122"/>
              </a:rPr>
              <a:t>A 区（主站点）</a:t>
            </a:r>
            <a:endParaRPr sz="1100" b="1">
              <a:solidFill>
                <a:srgbClr val="7835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68096" y="3273552"/>
            <a:ext cx="2889503" cy="1554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11 个微服务（完整栈）</a:t>
            </a:r>
            <a:endParaRPr sz="9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68096" y="3438144"/>
            <a:ext cx="2889503" cy="1554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PostgreSQL + Redis</a:t>
            </a:r>
            <a:endParaRPr sz="9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68096" y="3602736"/>
            <a:ext cx="2889503" cy="1554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MinIO（本地存储）</a:t>
            </a:r>
            <a:endParaRPr sz="9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68096" y="3767328"/>
            <a:ext cx="2889503" cy="1554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transfer_agent (T-A)</a:t>
            </a:r>
            <a:endParaRPr sz="9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68096" y="3968496"/>
            <a:ext cx="2889503" cy="164592"/>
          </a:xfrm>
          <a:prstGeom prst="roundRect">
            <a:avLst>
              <a:gd name="adj" fmla="val 4000"/>
            </a:avLst>
          </a:prstGeom>
          <a:solidFill>
            <a:srgbClr val="FDE68A"/>
          </a:solidFill>
          <a:ln w="762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3968496"/>
            <a:ext cx="2889503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gw 白名单: 5000→B</a:t>
            </a:r>
            <a:endParaRPr sz="800" b="0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297680" y="2962656"/>
            <a:ext cx="3017520" cy="1207008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778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297680" y="2962656"/>
            <a:ext cx="3017520" cy="256032"/>
          </a:xfrm>
          <a:prstGeom prst="roundRect">
            <a:avLst>
              <a:gd name="adj" fmla="val 1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97680" y="2980944"/>
            <a:ext cx="3017520" cy="23774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</a:rPr>
              <a:t>B 区（评估中枢）</a:t>
            </a:r>
            <a:endParaRPr sz="1100" b="1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425696" y="3273552"/>
            <a:ext cx="2889503" cy="1554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11 个微服务（完整栈）</a:t>
            </a:r>
            <a:endParaRPr sz="9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425696" y="3438144"/>
            <a:ext cx="2889503" cy="1554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PostgreSQL + Redis</a:t>
            </a:r>
            <a:endParaRPr sz="9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425696" y="3602736"/>
            <a:ext cx="2889503" cy="1554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MinIO（本地存储+中转缓存）</a:t>
            </a:r>
            <a:endParaRPr sz="9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425696" y="3767328"/>
            <a:ext cx="2889503" cy="1554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transfer_agent (T-B)</a:t>
            </a:r>
            <a:endParaRPr sz="9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4425696" y="3968496"/>
            <a:ext cx="2889503" cy="164592"/>
          </a:xfrm>
          <a:prstGeom prst="roundRect">
            <a:avLst>
              <a:gd name="adj" fmla="val 4000"/>
            </a:avLst>
          </a:prstGeom>
          <a:solidFill>
            <a:srgbClr val="BBF7D0"/>
          </a:solidFill>
          <a:ln w="762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25696" y="3968496"/>
            <a:ext cx="2889503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中继枢纽 · 校验 + 转发</a:t>
            </a:r>
            <a:endParaRPr sz="800" b="0">
              <a:solidFill>
                <a:srgbClr val="1665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7955279" y="2962656"/>
            <a:ext cx="3017520" cy="1207008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778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955279" y="2962656"/>
            <a:ext cx="3017520" cy="256032"/>
          </a:xfrm>
          <a:prstGeom prst="roundRect">
            <a:avLst>
              <a:gd name="adj" fmla="val 1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55279" y="2980944"/>
            <a:ext cx="3017520" cy="23774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3A5F"/>
                </a:solidFill>
                <a:latin typeface="微软雅黑" panose="020B0503020204020204" charset="-122"/>
                <a:ea typeface="微软雅黑" panose="020B0503020204020204" charset="-122"/>
              </a:rPr>
              <a:t>C 区（第三方 LLM API）</a:t>
            </a:r>
            <a:endParaRPr sz="1100" b="1">
              <a:solidFill>
                <a:srgbClr val="1E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083296" y="3273552"/>
            <a:ext cx="2889503" cy="1554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作为被测对象 / 评估 LLM</a:t>
            </a:r>
            <a:endParaRPr sz="9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083296" y="3438144"/>
            <a:ext cx="2889503" cy="1554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无持久化存储</a:t>
            </a:r>
            <a:endParaRPr sz="9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083296" y="3602736"/>
            <a:ext cx="2889503" cy="1554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不反向回连 A/B</a:t>
            </a:r>
            <a:endParaRPr sz="9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083296" y="3767328"/>
            <a:ext cx="2889503" cy="1554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第三方 LLM 评估 API</a:t>
            </a:r>
            <a:endParaRPr sz="9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8083296" y="3968496"/>
            <a:ext cx="2889503" cy="164592"/>
          </a:xfrm>
          <a:prstGeom prst="roundRect">
            <a:avLst>
              <a:gd name="adj" fmla="val 4000"/>
            </a:avLst>
          </a:prstGeom>
          <a:solidFill>
            <a:srgbClr val="E0E7FF"/>
          </a:solidFill>
          <a:ln w="762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83296" y="3968496"/>
            <a:ext cx="2889503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730A3"/>
                </a:solidFill>
                <a:latin typeface="微软雅黑" panose="020B0503020204020204" charset="-122"/>
                <a:ea typeface="微软雅黑" panose="020B0503020204020204" charset="-122"/>
              </a:rPr>
              <a:t>仅执行 THIRD_PARTY_C 评估用例</a:t>
            </a:r>
            <a:endParaRPr sz="800" b="0">
              <a:solidFill>
                <a:srgbClr val="3730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3858768" y="3456432"/>
            <a:ext cx="237744" cy="329184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58768" y="3474720"/>
            <a:ext cx="237744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GW-1</a:t>
            </a:r>
            <a:endParaRPr sz="7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7516368" y="3456432"/>
            <a:ext cx="237744" cy="329184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16368" y="3474720"/>
            <a:ext cx="237744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GW-2</a:t>
            </a:r>
            <a:endParaRPr sz="7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3657600" y="3529584"/>
            <a:ext cx="18288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114800" y="3529584"/>
            <a:ext cx="18288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4114800" y="3675888"/>
            <a:ext cx="18288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3657600" y="3675888"/>
            <a:ext cx="18288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315200" y="3529584"/>
            <a:ext cx="182880" cy="0"/>
          </a:xfrm>
          <a:prstGeom prst="line">
            <a:avLst/>
          </a:prstGeom>
          <a:ln w="19050">
            <a:solidFill>
              <a:srgbClr val="16A3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772400" y="3529584"/>
            <a:ext cx="182879" cy="0"/>
          </a:xfrm>
          <a:prstGeom prst="line">
            <a:avLst/>
          </a:prstGeom>
          <a:ln w="19050">
            <a:solidFill>
              <a:srgbClr val="16A3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675887" y="3291840"/>
            <a:ext cx="548640" cy="1280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A↔B 双向</a:t>
            </a:r>
            <a:endParaRPr sz="700" b="1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333488" y="3291840"/>
            <a:ext cx="548640" cy="1280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B→C 单向</a:t>
            </a:r>
            <a:endParaRPr sz="700" b="1">
              <a:solidFill>
                <a:srgbClr val="1665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1" name="Connector 70"/>
          <p:cNvCxnSpPr/>
          <p:nvPr/>
        </p:nvCxnSpPr>
        <p:spPr>
          <a:xfrm>
            <a:off x="3474720" y="3968496"/>
            <a:ext cx="0" cy="384048"/>
          </a:xfrm>
          <a:prstGeom prst="line">
            <a:avLst/>
          </a:prstGeom>
          <a:ln w="15240">
            <a:solidFill>
              <a:srgbClr val="7C3AE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474720" y="4352544"/>
            <a:ext cx="4663440" cy="0"/>
          </a:xfrm>
          <a:prstGeom prst="line">
            <a:avLst/>
          </a:prstGeom>
          <a:ln w="15240">
            <a:solidFill>
              <a:srgbClr val="7C3AE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138160" y="3968496"/>
            <a:ext cx="0" cy="384048"/>
          </a:xfrm>
          <a:prstGeom prst="line">
            <a:avLst/>
          </a:prstGeom>
          <a:ln w="15240">
            <a:solidFill>
              <a:srgbClr val="7C3AE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3794760" y="4379976"/>
            <a:ext cx="4023360" cy="1463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A↔C 经 B 中继过双 GW（逻辑链路·不直连）</a:t>
            </a:r>
            <a:endParaRPr sz="80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457200" y="4700016"/>
            <a:ext cx="11274552" cy="1481328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778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57200" y="4700016"/>
            <a:ext cx="11274552" cy="292608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03504" y="4773168"/>
            <a:ext cx="256032" cy="25603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22960" y="4754879"/>
            <a:ext cx="100584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连通性矩阵 — 三区网络段方向与协议约束</a:t>
            </a:r>
            <a:endParaRPr sz="125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621792" y="5120640"/>
            <a:ext cx="10908792" cy="182880"/>
          </a:xfrm>
          <a:prstGeom prst="roundRect">
            <a:avLst>
              <a:gd name="adj" fmla="val 10000"/>
            </a:avLst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7240" y="5120640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段</a:t>
            </a:r>
            <a:endParaRPr sz="9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2011680" y="5120640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方向</a:t>
            </a:r>
            <a:endParaRPr sz="9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474720" y="5120640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协议</a:t>
            </a:r>
            <a:endParaRPr sz="9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754880" y="5120640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说明</a:t>
            </a:r>
            <a:endParaRPr sz="9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621792" y="5303520"/>
            <a:ext cx="1090879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67512" y="5340096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sz="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77240" y="5321807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A ↔ B</a:t>
            </a:r>
            <a:endParaRPr sz="9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011680" y="5321807"/>
            <a:ext cx="137160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双向</a:t>
            </a:r>
            <a:endParaRPr sz="9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474720" y="5321807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HTTPS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754880" y="5321807"/>
            <a:ext cx="62179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transfer_agent 端口需网关白名单；A/B 同安全域，数据/报告自由同步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621792" y="5522976"/>
            <a:ext cx="10908792" cy="21945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67512" y="5559552"/>
            <a:ext cx="164592" cy="16459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sz="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77240" y="5541264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B → C</a:t>
            </a:r>
            <a:endParaRPr sz="9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2011680" y="5541264"/>
            <a:ext cx="137160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单向请求</a:t>
            </a:r>
            <a:endParaRPr sz="9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474720" y="5541264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HTTPS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754880" y="5541264"/>
            <a:ext cx="62179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B 的评估服务经 transfer_agent 调 C 第三方 LLM API；请求仅输出，不依赖 C 回调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621792" y="5742431"/>
            <a:ext cx="1090879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67512" y="5779007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sz="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77240" y="5760719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C → A/B</a:t>
            </a:r>
            <a:endParaRPr sz="9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2011680" y="5760719"/>
            <a:ext cx="137160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不通</a:t>
            </a:r>
            <a:endParaRPr sz="9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3474720" y="5760719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4754880" y="5760719"/>
            <a:ext cx="62179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 不做任何主动推送或回调，所有结果仅随 API 同步响应返回 B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621792" y="5961888"/>
            <a:ext cx="10908792" cy="21945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67512" y="5998464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sz="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777240" y="5980175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A → C</a:t>
            </a:r>
            <a:endParaRPr sz="9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2011680" y="5980175"/>
            <a:ext cx="137160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经 B 中继</a:t>
            </a:r>
            <a:endParaRPr sz="9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3474720" y="5980175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HTTPS ×2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4754880" y="5980175"/>
            <a:ext cx="62179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逻辑链路 A→GW-1→B→GW-2→C，物理不直连；B 校验 + 转发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Rounded Rectangle 107"/>
          <p:cNvSpPr/>
          <p:nvPr/>
        </p:nvSpPr>
        <p:spPr>
          <a:xfrm>
            <a:off x="457200" y="6364224"/>
            <a:ext cx="11274552" cy="29260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57200" y="6364224"/>
            <a:ext cx="11274552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A/B 完整微服务栈可执行全部用例；C 仅执行 THIRD_PARTY_C 评估用例 · 所有跨区链路均过软件网关（A↔B 过 GW-1 · B→C 过 GW-2 · A↔C 经 B 中继过双 GW）</a:t>
            </a:r>
            <a:endParaRPr sz="9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43891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主线方案 · 评估中枢与跨区传输流程</a:t>
            </a:r>
            <a:endParaRPr sz="2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4552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评估中枢 · 配置化维度路由 · transfer_agent 传输代理 · EVAL_REQUEST 完整流程 ①→⑧</a:t>
            </a:r>
            <a:endParaRPr sz="11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87552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11274552" cy="1490472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778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11274552" cy="292608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118872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170432"/>
            <a:ext cx="100584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评估中枢模型 — 配置化维度路由 + transfer_agent 传输代理（DDD 四层）</a:t>
            </a:r>
            <a:endParaRPr sz="1250" b="1">
              <a:solidFill>
                <a:srgbClr val="1665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1536192"/>
            <a:ext cx="4754880" cy="1463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</a:rPr>
              <a:t>评估能力注册表（配置化维度路由）</a:t>
            </a:r>
            <a:endParaRPr sz="950" b="1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1700784"/>
            <a:ext cx="4754880" cy="128016"/>
          </a:xfrm>
          <a:prstGeom prst="roundRect">
            <a:avLst>
              <a:gd name="adj" fmla="val 10000"/>
            </a:avLst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00784"/>
            <a:ext cx="731520" cy="12801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维度</a:t>
            </a:r>
            <a:endParaRPr sz="800" b="1">
              <a:solidFill>
                <a:srgbClr val="1665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3040" y="1700784"/>
            <a:ext cx="731520" cy="12801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target</a:t>
            </a:r>
            <a:endParaRPr sz="800" b="1">
              <a:solidFill>
                <a:srgbClr val="1665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06040" y="1700784"/>
            <a:ext cx="731520" cy="12801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路由目标</a:t>
            </a:r>
            <a:endParaRPr sz="800" b="1">
              <a:solidFill>
                <a:srgbClr val="1665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1828800"/>
            <a:ext cx="4754880" cy="1371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828800"/>
            <a:ext cx="658368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wer</a:t>
            </a:r>
            <a:endParaRPr sz="8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63040" y="1828800"/>
            <a:ext cx="1097280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</a:rPr>
              <a:t>LOCAL</a:t>
            </a:r>
            <a:endParaRPr sz="8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06040" y="1828800"/>
            <a:ext cx="2148840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evaluation_service gRPC</a:t>
            </a:r>
            <a:endParaRPr sz="8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0080" y="1975104"/>
            <a:ext cx="4754880" cy="1371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1975104"/>
            <a:ext cx="658368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der</a:t>
            </a:r>
            <a:endParaRPr sz="8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63040" y="1975104"/>
            <a:ext cx="1097280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</a:rPr>
              <a:t>LOCAL</a:t>
            </a:r>
            <a:endParaRPr sz="8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06040" y="1975104"/>
            <a:ext cx="2148840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evaluation_service gRPC</a:t>
            </a:r>
            <a:endParaRPr sz="8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0080" y="2121408"/>
            <a:ext cx="4754880" cy="1371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121408"/>
            <a:ext cx="658368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llm_judge</a:t>
            </a:r>
            <a:endParaRPr sz="8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63040" y="2121408"/>
            <a:ext cx="1097280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THIRD_PARTY_C</a:t>
            </a:r>
            <a:endParaRPr sz="8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606040" y="2121408"/>
            <a:ext cx="2148840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transfer_agent → C LLM API</a:t>
            </a:r>
            <a:endParaRPr sz="8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0080" y="2267712"/>
            <a:ext cx="4754880" cy="1371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2267712"/>
            <a:ext cx="658368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mos</a:t>
            </a:r>
            <a:endParaRPr sz="8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63040" y="2267712"/>
            <a:ext cx="1097280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THIRD_PARTY_C</a:t>
            </a:r>
            <a:endParaRPr sz="8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606040" y="2267712"/>
            <a:ext cx="2148840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transfer_agent → C LLM API</a:t>
            </a:r>
            <a:endParaRPr sz="8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43600" y="1536192"/>
            <a:ext cx="5486400" cy="1463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</a:rPr>
              <a:t>transfer_agent（传输代理 · DDD 四层）</a:t>
            </a:r>
            <a:endParaRPr sz="950" b="1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43600" y="1700784"/>
            <a:ext cx="5120640" cy="1371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0176" y="1700784"/>
            <a:ext cx="5047488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interfaces/api/receive 收包 · 验签</a:t>
            </a:r>
            <a:endParaRPr sz="800" b="0">
              <a:solidFill>
                <a:srgbClr val="1665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943600" y="1847088"/>
            <a:ext cx="5120640" cy="13716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0176" y="1847088"/>
            <a:ext cx="5047488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application/services/打包 · 分片 · 重试 · 幂等</a:t>
            </a:r>
            <a:endParaRPr sz="800" b="0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943600" y="1993391"/>
            <a:ext cx="5120640" cy="137160"/>
          </a:xfrm>
          <a:prstGeom prst="roundRect">
            <a:avLst>
              <a:gd name="adj" fmla="val 4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0176" y="1993391"/>
            <a:ext cx="5047488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730A3"/>
                </a:solidFill>
                <a:latin typeface="微软雅黑" panose="020B0503020204020204" charset="-122"/>
                <a:ea typeface="微软雅黑" panose="020B0503020204020204" charset="-122"/>
              </a:rPr>
              <a:t>domain/models/TransferPackage · Status · 签名</a:t>
            </a:r>
            <a:endParaRPr sz="800" b="0">
              <a:solidFill>
                <a:srgbClr val="3730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943600" y="2139696"/>
            <a:ext cx="5120640" cy="137160"/>
          </a:xfrm>
          <a:prstGeom prst="roundRect">
            <a:avLst>
              <a:gd name="adj" fmla="val 4000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0176" y="2139696"/>
            <a:ext cx="5047488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D174D"/>
                </a:solidFill>
                <a:latin typeface="微软雅黑" panose="020B0503020204020204" charset="-122"/>
                <a:ea typeface="微软雅黑" panose="020B0503020204020204" charset="-122"/>
              </a:rPr>
              <a:t>infrastructure/acl 出站 · storage · 持久化流水</a:t>
            </a:r>
            <a:endParaRPr sz="800" b="0">
              <a:solidFill>
                <a:srgbClr val="9D17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40080" y="2423160"/>
            <a:ext cx="10424160" cy="146304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762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" y="2423160"/>
            <a:ext cx="10351008" cy="1463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新增微服务 · 端口注册 shared/config/service_ports.py · proto: shared/proto/transfer_agent.proto · transfer_id 幂等唯一 · HMAC-SHA256 签名 · TTL 3600s</a:t>
            </a:r>
            <a:endParaRPr sz="800" b="0">
              <a:solidFill>
                <a:srgbClr val="1665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57200" y="2907792"/>
            <a:ext cx="11274552" cy="3264408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77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57200" y="2907792"/>
            <a:ext cx="11274552" cy="292608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3504" y="2980944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2960" y="2962656"/>
            <a:ext cx="100584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EVAL_REQUEST 完整流程 — A 区命中第三方 LLM 评估 → B 中继 → C 第三方 LLM API（被测对象 / 评估 LLM）→ 结果返回 A</a:t>
            </a:r>
            <a:endParaRPr sz="1250" b="1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40080" y="338328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13231" y="3474720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32688" y="3456432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A 区用例执行完成</a:t>
            </a:r>
            <a:endParaRPr sz="10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32688" y="3730752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评估维度命中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32688" y="3986784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THIRD_PARTY_C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3108960" y="3863340"/>
            <a:ext cx="344424" cy="0"/>
          </a:xfrm>
          <a:prstGeom prst="line">
            <a:avLst/>
          </a:prstGeom>
          <a:ln w="1905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453384" y="338328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526536" y="3474720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745992" y="3456432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打包 EVAL_REQUEST</a:t>
            </a:r>
            <a:endParaRPr sz="10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745992" y="3730752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algorithm_result JSON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745992" y="3986784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+ 引用音频/结果文件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5922264" y="3863340"/>
            <a:ext cx="344424" cy="0"/>
          </a:xfrm>
          <a:prstGeom prst="line">
            <a:avLst/>
          </a:prstGeom>
          <a:ln w="1905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6266688" y="338328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339840" y="3474720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559296" y="3456432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T-A → T-B</a:t>
            </a:r>
            <a:endParaRPr sz="10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559296" y="3730752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分片并发上传 4MB/片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559296" y="3986784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签名+token→网关鉴权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8735568" y="3863340"/>
            <a:ext cx="344424" cy="0"/>
          </a:xfrm>
          <a:prstGeom prst="line">
            <a:avLst/>
          </a:prstGeom>
          <a:ln w="1905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9079992" y="338328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153144" y="3474720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372600" y="3456432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B 中转·校验</a:t>
            </a:r>
            <a:endParaRPr sz="10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372600" y="3730752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校验签名+幂等去重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372600" y="3986784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暂存 transit 桶(TTL)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10314432" y="4343400"/>
            <a:ext cx="0" cy="502920"/>
          </a:xfrm>
          <a:prstGeom prst="line">
            <a:avLst/>
          </a:prstGeom>
          <a:ln w="1905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9079992" y="4864608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53144" y="4956048"/>
            <a:ext cx="219456" cy="21945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372600" y="4937760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T-B → C 第三方 LLM API</a:t>
            </a:r>
            <a:endParaRPr sz="10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372600" y="5212080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multipart / chunked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372600" y="5468112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/ presigned PUT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5" name="Connector 74"/>
          <p:cNvCxnSpPr/>
          <p:nvPr/>
        </p:nvCxnSpPr>
        <p:spPr>
          <a:xfrm flipH="1">
            <a:off x="8735568" y="5344668"/>
            <a:ext cx="344424" cy="0"/>
          </a:xfrm>
          <a:prstGeom prst="line">
            <a:avLst/>
          </a:prstGeom>
          <a:ln w="19050">
            <a:solidFill>
              <a:srgbClr val="16A3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6266688" y="4864608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339840" y="4956048"/>
            <a:ext cx="219456" cy="21945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559296" y="4937760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C LLM API 处理</a:t>
            </a:r>
            <a:endParaRPr sz="10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559296" y="5212080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被测对象 / 评估 LLM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559296" y="5468112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一次性请求-响应·不落 A/B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1" name="Connector 80"/>
          <p:cNvCxnSpPr/>
          <p:nvPr/>
        </p:nvCxnSpPr>
        <p:spPr>
          <a:xfrm flipH="1">
            <a:off x="5922264" y="5344668"/>
            <a:ext cx="344424" cy="0"/>
          </a:xfrm>
          <a:prstGeom prst="line">
            <a:avLst/>
          </a:prstGeom>
          <a:ln w="19050">
            <a:solidFill>
              <a:srgbClr val="3B82F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3453384" y="4864608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526536" y="4956048"/>
            <a:ext cx="219456" cy="21945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3745992" y="4937760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EVAL_RESULT 返回 B</a:t>
            </a:r>
            <a:endParaRPr sz="10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745992" y="5212080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B 评估服务解析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745992" y="5468112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落 B 区 DB/MinIO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7" name="Connector 86"/>
          <p:cNvCxnSpPr/>
          <p:nvPr/>
        </p:nvCxnSpPr>
        <p:spPr>
          <a:xfrm flipH="1">
            <a:off x="3108960" y="5344668"/>
            <a:ext cx="344424" cy="0"/>
          </a:xfrm>
          <a:prstGeom prst="line">
            <a:avLst/>
          </a:prstGeom>
          <a:ln w="19050">
            <a:solidFill>
              <a:srgbClr val="16A3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640080" y="4864608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13231" y="4956048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32688" y="4937760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EVAL_RESULT 回同步 A</a:t>
            </a:r>
            <a:endParaRPr sz="10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932688" y="5212080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T-B→GW-1→T-A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932688" y="5468112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落 A 区 DB/MinIO</a:t>
            </a:r>
            <a:endParaRPr sz="8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40080" y="5897880"/>
            <a:ext cx="10908792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包类型：EVAL_REQUEST（评估输入）· EVAL_RESULT（同步响应）· REPORT_SYNC（报告同步）· DATA_SYNC（数据同步）· transfer_id 幂等唯一 · HMAC-SHA256 签名 · TTL 3600s · ephemeral true</a:t>
            </a:r>
            <a:endParaRPr sz="8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57200" y="6675120"/>
            <a:ext cx="11274552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V9.7.31 · 跨区网络传输方案 · A/B/C 三区链路（A/B 完整微服务栈 · C 仅执行 THIRD_PARTY_C 评估）· 所有跨区链路均过软件网关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2272</Words>
  <Application>WPS 演示</Application>
  <PresentationFormat>On-screen Show (4:3)</PresentationFormat>
  <Paragraphs>252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public</cp:lastModifiedBy>
  <cp:revision>2</cp:revision>
  <dcterms:created xsi:type="dcterms:W3CDTF">2013-01-27T09:14:00Z</dcterms:created>
  <dcterms:modified xsi:type="dcterms:W3CDTF">2026-09-14T08:17:32Z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620B146FDB1A48F5AEBB4B71B526D708_12</vt:lpwstr>
  </property>
  <property fmtid="{D5CDD505-2E9C-101B-9397-08002B2CF9AE}" pid="3" name="KSOProductBuildVer">
    <vt:lpwstr>2052-12.1.0.28485</vt:lpwstr>
  </property>
</Properties>
</file>